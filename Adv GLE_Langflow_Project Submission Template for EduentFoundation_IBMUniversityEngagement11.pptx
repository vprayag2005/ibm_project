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4" name="PlaceHolder 3"/>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BD701155-28F1-485A-BCAB-F11B5F0DFCB9}"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rot="5400000">
            <a:off x="7133400" y="1956240"/>
            <a:ext cx="5811480" cy="262872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8" name="PlaceHolder 2"/>
          <p:cNvSpPr>
            <a:spLocks noGrp="1"/>
          </p:cNvSpPr>
          <p:nvPr>
            <p:ph type="body"/>
          </p:nvPr>
        </p:nvSpPr>
        <p:spPr>
          <a:xfrm rot="5400000">
            <a:off x="1800000" y="-596160"/>
            <a:ext cx="5811480" cy="773388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4DBD7CF-C466-47FC-BAC7-119A58579F31}"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lstStyle>
            <a:lvl1pPr indent="0" algn="l">
              <a:buNone/>
              <a:defRPr lang="en-IN" sz="6000" b="0" u="none" strike="noStrike">
                <a:solidFill>
                  <a:srgbClr val="000000"/>
                </a:solidFill>
                <a:effectLst/>
                <a:uFillTx/>
                <a:latin typeface="Arial"/>
              </a:defRPr>
            </a:lvl1pPr>
          </a:lstStyle>
          <a:p>
            <a:pPr indent="0" algn="l">
              <a:buNone/>
            </a:pPr>
            <a:r>
              <a:rPr lang="en-IN" sz="6000" b="0" u="none" strike="noStrike">
                <a:solidFill>
                  <a:srgbClr val="000000"/>
                </a:solidFill>
                <a:effectLst/>
                <a:uFillTx/>
                <a:latin typeface="Arial"/>
              </a:rPr>
              <a:t>Click to edit the title text format</a:t>
            </a:r>
            <a:endParaRPr lang="en-IN" sz="6000" b="0" u="none" strike="noStrike">
              <a:solidFill>
                <a:srgbClr val="000000"/>
              </a:solidFill>
              <a:effectLst/>
              <a:uFillTx/>
              <a:latin typeface="Arial"/>
            </a:endParaRPr>
          </a:p>
        </p:txBody>
      </p:sp>
      <p:sp>
        <p:nvSpPr>
          <p:cNvPr id="1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rmAutofit fontScale="475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F9610233-A316-4D3A-9194-B47648CE7E00}"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1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0" name="PlaceHolder 4"/>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1" name="PlaceHolder 5"/>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CD7B8EC-F464-47A1-8902-E9E791C8878C}"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2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2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2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8" name="PlaceHolder 6"/>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9" name="PlaceHolder 7"/>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0" name="PlaceHolder 8"/>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D88088DB-F0C8-4AFB-83B4-AB1D9A728B37}"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2" name="PlaceHolder 2"/>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3" name="PlaceHolder 3"/>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4" name="PlaceHolder 4"/>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A29E5809-D629-4D1E-9829-CA3FC74ECEA9}"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6" name="PlaceHolder 2"/>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7" name="PlaceHolder 3"/>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82DF1231-20C7-4BC0-8DF5-C1D63243DF58}"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n-IN" sz="3200" b="0" u="none" strike="noStrike">
                <a:solidFill>
                  <a:srgbClr val="000000"/>
                </a:solidFill>
                <a:effectLst/>
                <a:uFillTx/>
                <a:latin typeface="Arial"/>
              </a:defRPr>
            </a:lvl1pPr>
          </a:lstStyle>
          <a:p>
            <a:pPr indent="0" algn="l">
              <a:buNone/>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3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3200" b="0" u="none" strike="noStrike">
                <a:solidFill>
                  <a:srgbClr val="000000"/>
                </a:solidFill>
                <a:effectLst/>
                <a:uFillTx/>
                <a:latin typeface="Arial"/>
              </a:defRPr>
            </a:lvl7pPr>
          </a:lstStyle>
          <a:p>
            <a:pPr marL="457200" indent="-431640" algn="l">
              <a:spcBef>
                <a:spcPts val="1417"/>
              </a:spcBef>
              <a:buClr>
                <a:srgbClr val="000000"/>
              </a:buClr>
              <a:buSzPct val="45000"/>
              <a:buFont typeface="Wingdings" charset="2"/>
              <a:buChar char=""/>
            </a:pPr>
            <a:r>
              <a:rPr lang="en-IN" sz="3200" b="0" u="none" strike="noStrike">
                <a:solidFill>
                  <a:srgbClr val="000000"/>
                </a:solidFill>
                <a:effectLst/>
                <a:uFillTx/>
                <a:latin typeface="Arial"/>
              </a:rPr>
              <a:t>Click to edit the outline text format</a:t>
            </a:r>
            <a:endParaRPr lang="en-IN" sz="3200" b="0" u="none" strike="noStrike">
              <a:solidFill>
                <a:srgbClr val="000000"/>
              </a:solidFill>
              <a:effectLst/>
              <a:uFillTx/>
              <a:latin typeface="Arial"/>
            </a:endParaRPr>
          </a:p>
          <a:p>
            <a:pPr marL="914400" lvl="1" indent="-406440" algn="l">
              <a:spcBef>
                <a:spcPts val="1134"/>
              </a:spcBef>
              <a:buClr>
                <a:srgbClr val="000000"/>
              </a:buClr>
              <a:buSzPct val="75000"/>
              <a:buFont typeface="Symbol" charset="2"/>
              <a:buChar char=""/>
            </a:pPr>
            <a:r>
              <a:rPr lang="en-IN" sz="3200" b="0" u="none" strike="noStrike">
                <a:solidFill>
                  <a:srgbClr val="000000"/>
                </a:solidFill>
                <a:effectLst/>
                <a:uFillTx/>
                <a:latin typeface="Arial"/>
              </a:rPr>
              <a:t>Second Outline Level</a:t>
            </a:r>
            <a:endParaRPr lang="en-IN" sz="3200" b="0" u="none" strike="noStrike">
              <a:solidFill>
                <a:srgbClr val="000000"/>
              </a:solidFill>
              <a:effectLst/>
              <a:uFillTx/>
              <a:latin typeface="Arial"/>
            </a:endParaRPr>
          </a:p>
          <a:p>
            <a:pPr marL="1371600" lvl="2" indent="-380880" algn="l">
              <a:spcBef>
                <a:spcPts val="850"/>
              </a:spcBef>
              <a:buClr>
                <a:srgbClr val="000000"/>
              </a:buClr>
              <a:buSzPct val="45000"/>
              <a:buFont typeface="Wingdings" charset="2"/>
              <a:buChar char=""/>
            </a:pPr>
            <a:r>
              <a:rPr lang="en-IN" sz="3200" b="0" u="none" strike="noStrike">
                <a:solidFill>
                  <a:srgbClr val="000000"/>
                </a:solidFill>
                <a:effectLst/>
                <a:uFillTx/>
                <a:latin typeface="Arial"/>
              </a:rPr>
              <a:t>Third Outline Level</a:t>
            </a:r>
            <a:endParaRPr lang="en-IN" sz="3200" b="0" u="none" strike="noStrike">
              <a:solidFill>
                <a:srgbClr val="000000"/>
              </a:solidFill>
              <a:effectLst/>
              <a:uFillTx/>
              <a:latin typeface="Arial"/>
            </a:endParaRPr>
          </a:p>
          <a:p>
            <a:pPr marL="1828800" lvl="3" indent="-355680" algn="l">
              <a:spcBef>
                <a:spcPts val="567"/>
              </a:spcBef>
              <a:buClr>
                <a:srgbClr val="000000"/>
              </a:buClr>
              <a:buSzPct val="75000"/>
              <a:buFont typeface="Symbol" charset="2"/>
              <a:buChar char=""/>
            </a:pPr>
            <a:r>
              <a:rPr lang="en-IN" sz="3200" b="0" u="none" strike="noStrike">
                <a:solidFill>
                  <a:srgbClr val="000000"/>
                </a:solidFill>
                <a:effectLst/>
                <a:uFillTx/>
                <a:latin typeface="Arial"/>
              </a:rPr>
              <a:t>Fourth Outline Level</a:t>
            </a:r>
            <a:endParaRPr lang="en-IN" sz="3200" b="0" u="none" strike="noStrike">
              <a:solidFill>
                <a:srgbClr val="000000"/>
              </a:solidFill>
              <a:effectLst/>
              <a:uFillTx/>
              <a:latin typeface="Arial"/>
            </a:endParaRPr>
          </a:p>
          <a:p>
            <a:pPr marL="2286000" lvl="4"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Fifth Outline Level</a:t>
            </a:r>
            <a:endParaRPr lang="en-IN" sz="3200" b="0" u="none" strike="noStrike">
              <a:solidFill>
                <a:srgbClr val="000000"/>
              </a:solidFill>
              <a:effectLst/>
              <a:uFillTx/>
              <a:latin typeface="Arial"/>
            </a:endParaRPr>
          </a:p>
          <a:p>
            <a:pPr marL="2743200" lvl="5"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Sixth Outline Level</a:t>
            </a:r>
            <a:endParaRPr lang="en-IN" sz="3200" b="0" u="none" strike="noStrike">
              <a:solidFill>
                <a:srgbClr val="000000"/>
              </a:solidFill>
              <a:effectLst/>
              <a:uFillTx/>
              <a:latin typeface="Arial"/>
            </a:endParaRPr>
          </a:p>
          <a:p>
            <a:pPr marL="3200400" lvl="6" indent="-355680" algn="l">
              <a:spcBef>
                <a:spcPts val="283"/>
              </a:spcBef>
              <a:buClr>
                <a:srgbClr val="000000"/>
              </a:buClr>
              <a:buSzPct val="45000"/>
              <a:buFont typeface="Wingdings" charset="2"/>
              <a:buChar char=""/>
            </a:pPr>
            <a:r>
              <a:rPr lang="en-IN" sz="3200" b="0" u="none" strike="noStrike">
                <a:solidFill>
                  <a:srgbClr val="000000"/>
                </a:solidFill>
                <a:effectLst/>
                <a:uFillTx/>
                <a:latin typeface="Arial"/>
              </a:rPr>
              <a:t>Seventh Outline Level</a:t>
            </a:r>
            <a:endParaRPr lang="en-IN" sz="3200" b="0" u="none" strike="noStrike">
              <a:solidFill>
                <a:srgbClr val="000000"/>
              </a:solidFill>
              <a:effectLst/>
              <a:uFillTx/>
              <a:latin typeface="Arial"/>
            </a:endParaRPr>
          </a:p>
        </p:txBody>
      </p:sp>
      <p:sp>
        <p:nvSpPr>
          <p:cNvPr id="4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41"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2"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217C240E-F4D4-4AC0-9CE9-7F0A3C87B5DF}"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n-IN" sz="3200" b="0" u="none" strike="noStrike">
                <a:solidFill>
                  <a:srgbClr val="000000"/>
                </a:solidFill>
                <a:effectLst/>
                <a:uFillTx/>
                <a:latin typeface="Arial"/>
              </a:defRPr>
            </a:lvl1pPr>
          </a:lstStyle>
          <a:p>
            <a:pPr indent="0" algn="l">
              <a:buNone/>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4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rm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4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IN"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47" name="PlaceHolder 4"/>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8" name="PlaceHolder 5"/>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9" name="PlaceHolder 6"/>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4D67A125-DBAF-46BF-9C10-D90CFC9FEE7E}"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IN" sz="4400" b="0" u="none" strike="noStrike">
                <a:solidFill>
                  <a:srgbClr val="000000"/>
                </a:solidFill>
                <a:effectLst/>
                <a:uFillTx/>
                <a:latin typeface="Arial"/>
              </a:defRPr>
            </a:lvl1pPr>
          </a:lstStyle>
          <a:p>
            <a:pPr indent="0" algn="l">
              <a:buNone/>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51" name="PlaceHolder 2"/>
          <p:cNvSpPr>
            <a:spLocks noGrp="1"/>
          </p:cNvSpPr>
          <p:nvPr>
            <p:ph type="body"/>
          </p:nvPr>
        </p:nvSpPr>
        <p:spPr>
          <a:xfrm rot="5400000">
            <a:off x="3920400" y="-1256400"/>
            <a:ext cx="4350960" cy="1051524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52" name="PlaceHolder 3"/>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3" name="PlaceHolder 4"/>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5"/>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D45DF67C-8565-43A2-BA52-4BED0A2A574A}"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p>
            <a:pPr indent="0" algn="ctr">
              <a:lnSpc>
                <a:spcPct val="90000"/>
              </a:lnSpc>
              <a:buNone/>
            </a:pPr>
            <a:r>
              <a:rPr lang="en-US" sz="6600" b="1" u="none" strike="noStrike">
                <a:solidFill>
                  <a:schemeClr val="dk1"/>
                </a:solidFill>
                <a:effectLst/>
                <a:uFillTx/>
                <a:latin typeface="Calibri"/>
                <a:ea typeface="Calibri"/>
              </a:rPr>
              <a:t>IBM University Engagement Project Submission</a:t>
            </a:r>
            <a:br>
              <a:rPr sz="6000"/>
            </a:br>
            <a:endParaRPr lang="en-IN" sz="6600" b="0" u="none" strike="noStrike">
              <a:solidFill>
                <a:srgbClr val="000000"/>
              </a:solidFill>
              <a:effectLst/>
              <a:uFillTx/>
              <a:latin typeface="Arial"/>
            </a:endParaRPr>
          </a:p>
        </p:txBody>
      </p:sp>
      <p:sp>
        <p:nvSpPr>
          <p:cNvPr id="56" name="PlaceHolder 2"/>
          <p:cNvSpPr>
            <a:spLocks noGrp="1"/>
          </p:cNvSpPr>
          <p:nvPr>
            <p:ph/>
          </p:nvPr>
        </p:nvSpPr>
        <p:spPr>
          <a:xfrm>
            <a:off x="1014840" y="3903840"/>
            <a:ext cx="10515240" cy="1499760"/>
          </a:xfrm>
          <a:prstGeom prst="rect">
            <a:avLst/>
          </a:prstGeom>
          <a:noFill/>
          <a:ln w="0">
            <a:noFill/>
          </a:ln>
        </p:spPr>
        <p:txBody>
          <a:bodyPr lIns="91440" tIns="45720" rIns="91440" bIns="45720" anchor="t">
            <a:noAutofit/>
          </a:bodyPr>
          <a:p>
            <a:pPr marL="457200" indent="-228600" algn="ctr">
              <a:lnSpc>
                <a:spcPct val="90000"/>
              </a:lnSpc>
              <a:spcBef>
                <a:spcPts val="1001"/>
              </a:spcBef>
              <a:buNone/>
              <a:tabLst>
                <a:tab pos="0" algn="l"/>
              </a:tabLst>
            </a:pPr>
            <a:r>
              <a:rPr lang="en-US" sz="2400" b="1" i="1" u="none" strike="noStrike">
                <a:solidFill>
                  <a:schemeClr val="dk1"/>
                </a:solidFill>
                <a:effectLst/>
                <a:uFillTx/>
                <a:latin typeface="Calibri"/>
                <a:ea typeface="Calibri"/>
              </a:rPr>
              <a:t>“Exploring the Power of Agentic AI with IBM Granite and LangFlow”</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Google Shape;92;p2"/>
          <p:cNvSpPr/>
          <p:nvPr/>
        </p:nvSpPr>
        <p:spPr>
          <a:xfrm>
            <a:off x="690480" y="4425480"/>
            <a:ext cx="10795320" cy="198720"/>
          </a:xfrm>
          <a:prstGeom prst="rect">
            <a:avLst/>
          </a:prstGeom>
          <a:noFill/>
          <a:ln w="0">
            <a:noFill/>
          </a:ln>
        </p:spPr>
        <p:style>
          <a:lnRef idx="0"/>
          <a:fillRef idx="0"/>
          <a:effectRef idx="0"/>
          <a:fontRef idx="minor"/>
        </p:style>
        <p:txBody>
          <a:bodyPr lIns="0" tIns="0" rIns="0" bIns="0" anchor="t">
            <a:noAutofit/>
          </a:bodyPr>
          <a:p>
            <a:endParaRPr lang="en-IN" sz="1500" b="0" u="none" strike="noStrike">
              <a:solidFill>
                <a:schemeClr val="dk1"/>
              </a:solidFill>
              <a:effectLst/>
              <a:uFillTx/>
              <a:latin typeface="Times New Roman"/>
            </a:endParaRPr>
          </a:p>
        </p:txBody>
      </p:sp>
      <p:sp>
        <p:nvSpPr>
          <p:cNvPr id="58" name="Google Shape;95;p2"/>
          <p:cNvSpPr/>
          <p:nvPr/>
        </p:nvSpPr>
        <p:spPr>
          <a:xfrm>
            <a:off x="1102320" y="1174680"/>
            <a:ext cx="7426080" cy="451080"/>
          </a:xfrm>
          <a:prstGeom prst="rect">
            <a:avLst/>
          </a:prstGeom>
          <a:noFill/>
          <a:ln w="0">
            <a:noFill/>
          </a:ln>
        </p:spPr>
        <p:style>
          <a:lnRef idx="0"/>
          <a:fillRef idx="0"/>
          <a:effectRef idx="0"/>
          <a:fontRef idx="minor"/>
        </p:style>
        <p:txBody>
          <a:bodyPr anchor="ctr">
            <a:noAutofit/>
          </a:bodyPr>
          <a:p>
            <a:endParaRPr lang="en-IN" sz="3200" b="1" u="none" strike="noStrike">
              <a:solidFill>
                <a:srgbClr val="002060"/>
              </a:solidFill>
              <a:effectLst/>
              <a:uFillTx/>
              <a:latin typeface="Times New Roman"/>
            </a:endParaRPr>
          </a:p>
        </p:txBody>
      </p:sp>
      <p:graphicFrame>
        <p:nvGraphicFramePr>
          <p:cNvPr id="59" name="Google Shape;96;p2"/>
          <p:cNvGraphicFramePr/>
          <p:nvPr/>
        </p:nvGraphicFramePr>
        <p:xfrm>
          <a:off x="1299240" y="2600280"/>
          <a:ext cx="9394200" cy="216648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Student Name</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Recent Passport Photo</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Email ID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Mobile number</a:t>
                      </a:r>
                      <a:endParaRPr lang="en-IN" sz="1800" b="0" u="none" strike="noStrike">
                        <a:solidFill>
                          <a:srgbClr val="FFFFFF"/>
                        </a:solidFill>
                        <a:effectLst/>
                        <a:uFillTx/>
                        <a:latin typeface="Arial"/>
                      </a:endParaRPr>
                    </a:p>
                    <a:p>
                      <a:pPr algn="ctr">
                        <a:lnSpc>
                          <a:spcPct val="100000"/>
                        </a:lnSpc>
                        <a:tabLst>
                          <a:tab pos="0" algn="l"/>
                        </a:tabLst>
                      </a:pPr>
                      <a:r>
                        <a:rPr lang="en-US" sz="1800" b="0" u="none" strike="noStrike">
                          <a:solidFill>
                            <a:srgbClr val="000000"/>
                          </a:solidFill>
                          <a:effectLst/>
                          <a:uFillTx/>
                          <a:latin typeface="Arial"/>
                          <a:ea typeface="Calibri"/>
                        </a:rPr>
                        <a:t>[WhatsApp]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r>
                        <a:rPr lang="en-IN" sz="1400" b="0" u="none" strike="noStrike">
                          <a:solidFill>
                            <a:srgbClr val="000000"/>
                          </a:solidFill>
                          <a:effectLst/>
                          <a:uFillTx/>
                          <a:latin typeface="Arial"/>
                        </a:rPr>
                        <a:t>PRAYAG V</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lang="en-IN"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r>
                        <a:rPr lang="en-IN" sz="1400" b="0" u="none" strike="noStrike">
                          <a:solidFill>
                            <a:srgbClr val="000000"/>
                          </a:solidFill>
                          <a:effectLst/>
                          <a:uFillTx/>
                          <a:latin typeface="Arial"/>
                          <a:ea typeface="Arial"/>
                        </a:rPr>
                        <a:t>tl23btai0341@vidyaacademy.ac.in </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r>
                        <a:rPr lang="en-IN" sz="1400" b="0" u="none" strike="noStrike">
                          <a:solidFill>
                            <a:srgbClr val="000000"/>
                          </a:solidFill>
                          <a:effectLst/>
                          <a:uFillTx/>
                          <a:latin typeface="Arial"/>
                        </a:rPr>
                        <a:t>8606642277</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pic>
        <p:nvPicPr>
          <p:cNvPr id="60" name="Google Shape;98;p2"/>
          <p:cNvPicPr/>
          <p:nvPr/>
        </p:nvPicPr>
        <p:blipFill>
          <a:blip r:embed="rId1"/>
          <a:stretch/>
        </p:blipFill>
        <p:spPr>
          <a:xfrm>
            <a:off x="4052880" y="3738240"/>
            <a:ext cx="762120" cy="801360"/>
          </a:xfrm>
          <a:prstGeom prst="rect">
            <a:avLst/>
          </a:prstGeom>
          <a:noFill/>
          <a:ln w="0">
            <a:noFill/>
          </a:ln>
        </p:spPr>
      </p:pic>
      <p:sp>
        <p:nvSpPr>
          <p:cNvPr id="61" name="TextBox 3"/>
          <p:cNvSpPr/>
          <p:nvPr/>
        </p:nvSpPr>
        <p:spPr>
          <a:xfrm>
            <a:off x="1206000" y="1460880"/>
            <a:ext cx="10279800" cy="4561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Domain of  Project – </a:t>
            </a:r>
            <a:r>
              <a:rPr lang="en-US" sz="2400" b="1" u="none" strike="noStrike">
                <a:solidFill>
                  <a:srgbClr val="000000"/>
                </a:solidFill>
                <a:effectLst/>
                <a:highlight>
                  <a:srgbClr val="FFFF00"/>
                </a:highlight>
                <a:uFillTx/>
                <a:latin typeface="Arial"/>
                <a:ea typeface="Arial"/>
              </a:rPr>
              <a:t>[ Healthcare ]</a:t>
            </a:r>
            <a:endParaRPr lang="en-IN" sz="2400" b="0" u="none" strike="noStrike">
              <a:solidFill>
                <a:srgbClr val="000000"/>
              </a:solidFill>
              <a:effectLst/>
              <a:uFillTx/>
              <a:latin typeface="Arial"/>
            </a:endParaRPr>
          </a:p>
        </p:txBody>
      </p:sp>
      <p:sp>
        <p:nvSpPr>
          <p:cNvPr id="62" name="TextBox 6"/>
          <p:cNvSpPr/>
          <p:nvPr/>
        </p:nvSpPr>
        <p:spPr>
          <a:xfrm>
            <a:off x="1206000" y="551880"/>
            <a:ext cx="9580680" cy="4561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2400" b="1" u="none" strike="noStrike">
                <a:solidFill>
                  <a:srgbClr val="000000"/>
                </a:solidFill>
                <a:effectLst/>
                <a:uFillTx/>
                <a:latin typeface="Arial"/>
                <a:ea typeface="Arial"/>
              </a:rPr>
              <a:t>Project Tile – </a:t>
            </a:r>
            <a:r>
              <a:rPr lang="en-US" sz="2400" b="1" u="none" strike="noStrike">
                <a:solidFill>
                  <a:srgbClr val="000000"/>
                </a:solidFill>
                <a:effectLst/>
                <a:highlight>
                  <a:srgbClr val="FFFF00"/>
                </a:highlight>
                <a:uFillTx/>
                <a:latin typeface="Arial"/>
                <a:ea typeface="Arial"/>
              </a:rPr>
              <a:t>[</a:t>
            </a:r>
            <a:r>
              <a:rPr lang="en-US" sz="2400" b="1" u="none" strike="noStrike">
                <a:solidFill>
                  <a:srgbClr val="002060"/>
                </a:solidFill>
                <a:effectLst/>
                <a:highlight>
                  <a:srgbClr val="FFFF00"/>
                </a:highlight>
                <a:uFillTx/>
                <a:latin typeface="Times New Roman"/>
                <a:ea typeface="Times New Roman"/>
              </a:rPr>
              <a:t>  Nutrition Agent- using IBM Watsonx with IBM BOB </a:t>
            </a:r>
            <a:r>
              <a:rPr lang="en-US" sz="2400" b="1" u="none" strike="noStrike">
                <a:solidFill>
                  <a:srgbClr val="000000"/>
                </a:solidFill>
                <a:effectLst/>
                <a:highlight>
                  <a:srgbClr val="FFFF00"/>
                </a:highlight>
                <a:uFillTx/>
                <a:latin typeface="Arial"/>
                <a:ea typeface="Arial"/>
              </a:rPr>
              <a:t>]</a:t>
            </a:r>
            <a:endParaRPr lang="en-IN" sz="2400" b="0" u="none" strike="noStrike">
              <a:solidFill>
                <a:srgbClr val="000000"/>
              </a:solidFill>
              <a:effectLst/>
              <a:uFillTx/>
              <a:latin typeface="Arial"/>
            </a:endParaRPr>
          </a:p>
        </p:txBody>
      </p:sp>
      <p:sp>
        <p:nvSpPr>
          <p:cNvPr id="63" name="TextBox 2"/>
          <p:cNvSpPr/>
          <p:nvPr/>
        </p:nvSpPr>
        <p:spPr>
          <a:xfrm>
            <a:off x="1211040" y="5210640"/>
            <a:ext cx="6456240" cy="1630800"/>
          </a:xfrm>
          <a:prstGeom prst="rect">
            <a:avLst/>
          </a:prstGeom>
          <a:noFill/>
          <a:ln w="0">
            <a:noFill/>
          </a:ln>
        </p:spPr>
        <p:style>
          <a:lnRef idx="0"/>
          <a:fillRef idx="0"/>
          <a:effectRef idx="0"/>
          <a:fontRef idx="minor"/>
        </p:style>
        <p:txBody>
          <a:bodyPr numCol="1" spcCol="0" horzOverflow="overflow" anchor="t">
            <a:spAutoFit/>
          </a:bodyPr>
          <a:p>
            <a:pPr>
              <a:lnSpc>
                <a:spcPct val="100000"/>
              </a:lnSpc>
            </a:pPr>
            <a:endParaRPr lang="en-IN" sz="1400" b="0" u="none" strike="noStrike">
              <a:solidFill>
                <a:srgbClr val="000000"/>
              </a:solidFill>
              <a:effectLst/>
              <a:uFillTx/>
              <a:latin typeface="Arial"/>
            </a:endParaRPr>
          </a:p>
        </p:txBody>
      </p:sp>
      <p:pic>
        <p:nvPicPr>
          <p:cNvPr id="64" name=""/>
          <p:cNvPicPr/>
          <p:nvPr/>
        </p:nvPicPr>
        <p:blipFill>
          <a:blip r:embed="rId2"/>
          <a:stretch/>
        </p:blipFill>
        <p:spPr>
          <a:xfrm>
            <a:off x="4052880" y="3600000"/>
            <a:ext cx="987120" cy="9388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TextBox 1"/>
          <p:cNvSpPr/>
          <p:nvPr/>
        </p:nvSpPr>
        <p:spPr>
          <a:xfrm>
            <a:off x="576000" y="1234440"/>
            <a:ext cx="10606680" cy="50472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Arial"/>
                <a:ea typeface="Arial"/>
              </a:rPr>
              <a:t>Problem Statement : Nutrition Agent</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Challenge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Good nutrition is the foundation of health, but individuals often struggle with </a:t>
            </a:r>
            <a:r>
              <a:rPr lang="en-US" sz="1400" b="1" u="none" strike="noStrike">
                <a:solidFill>
                  <a:srgbClr val="000000"/>
                </a:solidFill>
                <a:effectLst/>
                <a:uFillTx/>
                <a:latin typeface="Arial"/>
                <a:ea typeface="Arial"/>
              </a:rPr>
              <a:t>diet planning, portion control, and tracking nutritional intake</a:t>
            </a:r>
            <a:r>
              <a:rPr lang="en-US" sz="1400" b="0" u="none" strike="noStrike">
                <a:solidFill>
                  <a:srgbClr val="000000"/>
                </a:solidFill>
                <a:effectLst/>
                <a:uFillTx/>
                <a:latin typeface="Arial"/>
                <a:ea typeface="Arial"/>
              </a:rPr>
              <a:t>. Information about healthy diets, disease-specific nutrition, and food composition is scattered across unreliable sources. Without </a:t>
            </a:r>
            <a:r>
              <a:rPr lang="en-US" sz="1400" b="1" u="none" strike="noStrike">
                <a:solidFill>
                  <a:srgbClr val="000000"/>
                </a:solidFill>
                <a:effectLst/>
                <a:uFillTx/>
                <a:latin typeface="Arial"/>
                <a:ea typeface="Arial"/>
              </a:rPr>
              <a:t>personalized, real-time guidance</a:t>
            </a:r>
            <a:r>
              <a:rPr lang="en-US" sz="1400" b="0" u="none" strike="noStrike">
                <a:solidFill>
                  <a:srgbClr val="000000"/>
                </a:solidFill>
                <a:effectLst/>
                <a:uFillTx/>
                <a:latin typeface="Arial"/>
                <a:ea typeface="Arial"/>
              </a:rPr>
              <a:t>, many fail to maintain balanced diets or make informed food choices.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Objective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Build an </a:t>
            </a:r>
            <a:r>
              <a:rPr lang="en-US" sz="1400" b="1" u="none" strike="noStrike">
                <a:solidFill>
                  <a:srgbClr val="000000"/>
                </a:solidFill>
                <a:effectLst/>
                <a:uFillTx/>
                <a:latin typeface="Arial"/>
                <a:ea typeface="Arial"/>
              </a:rPr>
              <a:t>AI-powered Nutrition Agent</a:t>
            </a:r>
            <a:r>
              <a:rPr lang="en-US" sz="1400" b="0" u="none" strike="noStrike">
                <a:solidFill>
                  <a:srgbClr val="000000"/>
                </a:solidFill>
                <a:effectLst/>
                <a:uFillTx/>
                <a:latin typeface="Arial"/>
                <a:ea typeface="Arial"/>
              </a:rPr>
              <a:t> that delivers </a:t>
            </a:r>
            <a:r>
              <a:rPr lang="en-US" sz="1400" b="1" u="none" strike="noStrike">
                <a:solidFill>
                  <a:srgbClr val="000000"/>
                </a:solidFill>
                <a:effectLst/>
                <a:uFillTx/>
                <a:latin typeface="Arial"/>
                <a:ea typeface="Arial"/>
              </a:rPr>
              <a:t>personalized dietary insights and guidance</a:t>
            </a:r>
            <a:r>
              <a:rPr lang="en-US" sz="1400" b="0" u="none" strike="noStrike">
                <a:solidFill>
                  <a:srgbClr val="000000"/>
                </a:solidFill>
                <a:effectLst/>
                <a:uFillTx/>
                <a:latin typeface="Arial"/>
                <a:ea typeface="Arial"/>
              </a:rPr>
              <a:t> for individuals, families, and health professionals. The solution should: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Personalized Diet Plans</a:t>
            </a:r>
            <a:r>
              <a:rPr lang="en-US" sz="1400" b="0" u="none" strike="noStrike">
                <a:solidFill>
                  <a:srgbClr val="000000"/>
                </a:solidFill>
                <a:effectLst/>
                <a:uFillTx/>
                <a:latin typeface="Arial"/>
                <a:ea typeface="Arial"/>
              </a:rPr>
              <a:t> – Recommend meals based on age, health conditions, allergies, cultural preferences, and fitness goals.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Food Data RAG Retrieval</a:t>
            </a:r>
            <a:r>
              <a:rPr lang="en-US" sz="1400" b="0" u="none" strike="noStrike">
                <a:solidFill>
                  <a:srgbClr val="000000"/>
                </a:solidFill>
                <a:effectLst/>
                <a:uFillTx/>
                <a:latin typeface="Arial"/>
                <a:ea typeface="Arial"/>
              </a:rPr>
              <a:t> – Fetch and summarize nutritional values (calories, macros, vitamins) from reliable sources.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Diet Tracking &amp; Feedback</a:t>
            </a:r>
            <a:r>
              <a:rPr lang="en-US" sz="1400" b="0" u="none" strike="noStrike">
                <a:solidFill>
                  <a:srgbClr val="000000"/>
                </a:solidFill>
                <a:effectLst/>
                <a:uFillTx/>
                <a:latin typeface="Arial"/>
                <a:ea typeface="Arial"/>
              </a:rPr>
              <a:t> – Allow users to log meals via text, images, or voice, and provide instant nutritional analysis.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Preventive Health Focus</a:t>
            </a:r>
            <a:r>
              <a:rPr lang="en-US" sz="1400" b="0" u="none" strike="noStrike">
                <a:solidFill>
                  <a:srgbClr val="000000"/>
                </a:solidFill>
                <a:effectLst/>
                <a:uFillTx/>
                <a:latin typeface="Arial"/>
                <a:ea typeface="Arial"/>
              </a:rPr>
              <a:t> – Suggest diets for chronic disease management (e.g., diabetes-friendly or heart-healthy plans).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Multi-Agent System</a:t>
            </a:r>
            <a:r>
              <a:rPr lang="en-US" sz="1400" b="0" u="none" strike="noStrike">
                <a:solidFill>
                  <a:srgbClr val="000000"/>
                </a:solidFill>
                <a:effectLst/>
                <a:uFillTx/>
                <a:latin typeface="Arial"/>
                <a:ea typeface="Arial"/>
              </a:rPr>
              <a:t> –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Nutrition Knowledge Agent</a:t>
            </a:r>
            <a:r>
              <a:rPr lang="en-US" sz="1400" b="0" u="none" strike="noStrike">
                <a:solidFill>
                  <a:srgbClr val="000000"/>
                </a:solidFill>
                <a:effectLst/>
                <a:uFillTx/>
                <a:latin typeface="Arial"/>
                <a:ea typeface="Arial"/>
              </a:rPr>
              <a:t> (fetches nutritional data)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Diet Recommendation Agent</a:t>
            </a:r>
            <a:r>
              <a:rPr lang="en-US" sz="1400" b="0" u="none" strike="noStrike">
                <a:solidFill>
                  <a:srgbClr val="000000"/>
                </a:solidFill>
                <a:effectLst/>
                <a:uFillTx/>
                <a:latin typeface="Arial"/>
                <a:ea typeface="Arial"/>
              </a:rPr>
              <a:t> (personalized meal plans)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Health Advisory Agent</a:t>
            </a:r>
            <a:r>
              <a:rPr lang="en-US" sz="1400" b="0" u="none" strike="noStrike">
                <a:solidFill>
                  <a:srgbClr val="000000"/>
                </a:solidFill>
                <a:effectLst/>
                <a:uFillTx/>
                <a:latin typeface="Arial"/>
                <a:ea typeface="Arial"/>
              </a:rPr>
              <a:t> (preventive health suggestions)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Food Log &amp; Feedback Agent</a:t>
            </a:r>
            <a:r>
              <a:rPr lang="en-US" sz="1400" b="0" u="none" strike="noStrike">
                <a:solidFill>
                  <a:srgbClr val="000000"/>
                </a:solidFill>
                <a:effectLst/>
                <a:uFillTx/>
                <a:latin typeface="Arial"/>
                <a:ea typeface="Arial"/>
              </a:rPr>
              <a:t> (meal tracking + analysis) </a:t>
            </a:r>
            <a:endParaRPr lang="en-IN"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Visualization Dashboard</a:t>
            </a:r>
            <a:r>
              <a:rPr lang="en-US" sz="1400" b="0" u="none" strike="noStrike">
                <a:solidFill>
                  <a:srgbClr val="000000"/>
                </a:solidFill>
                <a:effectLst/>
                <a:uFillTx/>
                <a:latin typeface="Arial"/>
                <a:ea typeface="Arial"/>
              </a:rPr>
              <a:t> – Show daily/weekly nutrient intake, deficiencies, and progress toward health goals.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6"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Problem Statement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Box 1"/>
          <p:cNvSpPr/>
          <p:nvPr/>
        </p:nvSpPr>
        <p:spPr>
          <a:xfrm>
            <a:off x="576000" y="1234440"/>
            <a:ext cx="10606680" cy="52624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Proposed Solution: AI-Powered Nutrition Agent</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proposed solution is a </a:t>
            </a:r>
            <a:r>
              <a:rPr lang="en-US" sz="1400" b="1" u="none" strike="noStrike">
                <a:solidFill>
                  <a:srgbClr val="000000"/>
                </a:solidFill>
                <a:effectLst/>
                <a:uFillTx/>
                <a:latin typeface="Arial"/>
                <a:ea typeface="Arial"/>
              </a:rPr>
              <a:t>multi-agent AI-powered Nutrition Agent</a:t>
            </a:r>
            <a:r>
              <a:rPr lang="en-US" sz="1400" b="0" u="none" strike="noStrike">
                <a:solidFill>
                  <a:srgbClr val="000000"/>
                </a:solidFill>
                <a:effectLst/>
                <a:uFillTx/>
                <a:latin typeface="Arial"/>
                <a:ea typeface="Arial"/>
              </a:rPr>
              <a:t> built using </a:t>
            </a:r>
            <a:r>
              <a:rPr lang="en-US" sz="1400" b="1" u="none" strike="noStrike">
                <a:solidFill>
                  <a:srgbClr val="000000"/>
                </a:solidFill>
                <a:effectLst/>
                <a:uFillTx/>
                <a:latin typeface="Arial"/>
                <a:ea typeface="Arial"/>
              </a:rPr>
              <a:t>LangFlow, IBM watsonx.ai, and Granite Models</a:t>
            </a:r>
            <a:r>
              <a:rPr lang="en-US" sz="1400" b="0" u="none" strike="noStrike">
                <a:solidFill>
                  <a:srgbClr val="000000"/>
                </a:solidFill>
                <a:effectLst/>
                <a:uFillTx/>
                <a:latin typeface="Arial"/>
                <a:ea typeface="Arial"/>
              </a:rPr>
              <a:t> to provide personalized, real-time dietary guidance. The system addresses challenges in diet planning, nutrition tracking, and preventive healthcare through an intelligent, modular architecture.</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At its core, the solution uses a </a:t>
            </a:r>
            <a:r>
              <a:rPr lang="en-US" sz="1400" b="1" u="none" strike="noStrike">
                <a:solidFill>
                  <a:srgbClr val="000000"/>
                </a:solidFill>
                <a:effectLst/>
                <a:uFillTx/>
                <a:latin typeface="Arial"/>
                <a:ea typeface="Arial"/>
              </a:rPr>
              <a:t>Retrieval-Augmented Generation (RAG)</a:t>
            </a:r>
            <a:r>
              <a:rPr lang="en-US" sz="1400" b="0" u="none" strike="noStrike">
                <a:solidFill>
                  <a:srgbClr val="000000"/>
                </a:solidFill>
                <a:effectLst/>
                <a:uFillTx/>
                <a:latin typeface="Arial"/>
                <a:ea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system consists of four key agents:</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Nutrition Knowledge Agent</a:t>
            </a:r>
            <a:r>
              <a:rPr lang="en-US" sz="1400" b="0" u="none" strike="noStrike">
                <a:solidFill>
                  <a:srgbClr val="000000"/>
                </a:solidFill>
                <a:effectLst/>
                <a:uFillTx/>
                <a:latin typeface="Arial"/>
                <a:ea typeface="Arial"/>
              </a:rPr>
              <a:t> retrieves and summarizes nutritional information using RAG. </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Diet Recommendation Agent</a:t>
            </a:r>
            <a:r>
              <a:rPr lang="en-US" sz="1400" b="0" u="none" strike="noStrike">
                <a:solidFill>
                  <a:srgbClr val="000000"/>
                </a:solidFill>
                <a:effectLst/>
                <a:uFillTx/>
                <a:latin typeface="Arial"/>
                <a:ea typeface="Arial"/>
              </a:rPr>
              <a:t> generates personalized meal plans based on user inputs such as age, health conditions, dietary preferences, and fitness goals. </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Health Advisory Agent</a:t>
            </a:r>
            <a:r>
              <a:rPr lang="en-US" sz="1400" b="0" u="none" strike="noStrike">
                <a:solidFill>
                  <a:srgbClr val="000000"/>
                </a:solidFill>
                <a:effectLst/>
                <a:uFillTx/>
                <a:latin typeface="Arial"/>
                <a:ea typeface="Arial"/>
              </a:rPr>
              <a:t> provides preventive health suggestions, including disease-specific diets (e.g., diabetes-friendly or heart-healthy plans). </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Food Log &amp; Feedback Agent</a:t>
            </a:r>
            <a:r>
              <a:rPr lang="en-US" sz="1400" b="0" u="none" strike="noStrike">
                <a:solidFill>
                  <a:srgbClr val="000000"/>
                </a:solidFill>
                <a:effectLst/>
                <a:uFillTx/>
                <a:latin typeface="Arial"/>
                <a:ea typeface="Arial"/>
              </a:rPr>
              <a:t> allows users to log meals via text, voice, or images and delivers instant nutritional analysis with actionable feedback. </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solution includes a </a:t>
            </a:r>
            <a:r>
              <a:rPr lang="en-US" sz="1400" b="1" u="none" strike="noStrike">
                <a:solidFill>
                  <a:srgbClr val="000000"/>
                </a:solidFill>
                <a:effectLst/>
                <a:uFillTx/>
                <a:latin typeface="Arial"/>
                <a:ea typeface="Arial"/>
              </a:rPr>
              <a:t>user-friendly dashboard</a:t>
            </a:r>
            <a:r>
              <a:rPr lang="en-US" sz="1400" b="0" u="none" strike="noStrike">
                <a:solidFill>
                  <a:srgbClr val="000000"/>
                </a:solidFill>
                <a:effectLst/>
                <a:uFillTx/>
                <a:latin typeface="Arial"/>
                <a:ea typeface="Arial"/>
              </a:rPr>
              <a:t> (built with Streamlit or React) that visualizes daily and weekly nutrient intake, highlights deficiencies, and tracks progress toward health goals.</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LangFlow is used to orchestrate agent workflows, while watsonx.ai ensures scalable model deployment, embeddings, and AI governance. Granite models power reasoning, summarization, and personalization.</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Overall, this solution delivers an </a:t>
            </a:r>
            <a:r>
              <a:rPr lang="en-US" sz="1400" b="1" u="none" strike="noStrike">
                <a:solidFill>
                  <a:srgbClr val="000000"/>
                </a:solidFill>
                <a:effectLst/>
                <a:uFillTx/>
                <a:latin typeface="Arial"/>
                <a:ea typeface="Arial"/>
              </a:rPr>
              <a:t>end-to-end intelligent nutrition assistant</a:t>
            </a:r>
            <a:r>
              <a:rPr lang="en-US" sz="1400" b="0" u="none" strike="noStrike">
                <a:solidFill>
                  <a:srgbClr val="000000"/>
                </a:solidFill>
                <a:effectLst/>
                <a:uFillTx/>
                <a:latin typeface="Arial"/>
                <a:ea typeface="Arial"/>
              </a:rPr>
              <a:t> that promotes healthier lifestyles through personalized insights, real-time feedback, and preventive healthcare recommendations.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8"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Proposed Solution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Box 1"/>
          <p:cNvSpPr/>
          <p:nvPr/>
        </p:nvSpPr>
        <p:spPr>
          <a:xfrm>
            <a:off x="777240" y="484560"/>
            <a:ext cx="7122960" cy="461160"/>
          </a:xfrm>
          <a:prstGeom prst="rect">
            <a:avLst/>
          </a:prstGeom>
          <a:noFill/>
          <a:ln w="0">
            <a:noFill/>
          </a:ln>
        </p:spPr>
        <p:style>
          <a:lnRef idx="0"/>
          <a:fillRef idx="0"/>
          <a:effectRef idx="0"/>
          <a:fontRef idx="minor"/>
        </p:style>
        <p:txBody>
          <a:bodyPr anchor="t">
            <a:spAutoFit/>
          </a:bodyPr>
          <a:p>
            <a:pPr>
              <a:lnSpc>
                <a:spcPct val="100000"/>
              </a:lnSpc>
            </a:pPr>
            <a:r>
              <a:rPr lang="en-US" sz="2400" b="1" u="none" strike="noStrike">
                <a:solidFill>
                  <a:srgbClr val="000000"/>
                </a:solidFill>
                <a:effectLst/>
                <a:uFillTx/>
                <a:latin typeface="Arial"/>
                <a:ea typeface="Arial"/>
              </a:rPr>
              <a:t>Technology Used</a:t>
            </a:r>
            <a:endParaRPr lang="en-IN" sz="2400" b="0" u="none" strike="noStrike">
              <a:solidFill>
                <a:srgbClr val="000000"/>
              </a:solidFill>
              <a:effectLst/>
              <a:uFillTx/>
              <a:latin typeface="Arial"/>
            </a:endParaRPr>
          </a:p>
        </p:txBody>
      </p:sp>
      <p:sp>
        <p:nvSpPr>
          <p:cNvPr id="70" name="TextBox 2"/>
          <p:cNvSpPr/>
          <p:nvPr/>
        </p:nvSpPr>
        <p:spPr>
          <a:xfrm>
            <a:off x="777240" y="1207080"/>
            <a:ext cx="10515240" cy="5508720"/>
          </a:xfrm>
          <a:prstGeom prst="rect">
            <a:avLst/>
          </a:prstGeom>
          <a:noFill/>
          <a:ln w="0">
            <a:noFill/>
          </a:ln>
        </p:spPr>
        <p:style>
          <a:lnRef idx="0"/>
          <a:fillRef idx="0"/>
          <a:effectRef idx="0"/>
          <a:fontRef idx="minor"/>
        </p:style>
        <p:txBody>
          <a:bodyPr anchor="t">
            <a:spAutoFit/>
          </a:bodyPr>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Langflow platform </a:t>
            </a:r>
            <a:r>
              <a:rPr lang="en-US" sz="1800" b="0" u="none" strike="noStrike">
                <a:solidFill>
                  <a:srgbClr val="000000"/>
                </a:solidFill>
                <a:effectLst/>
                <a:uFillTx/>
                <a:latin typeface="Arial"/>
                <a:ea typeface="Arial"/>
              </a:rPr>
              <a:t>-For designing and orchestrating multi-agent workflows visually</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Granite model </a:t>
            </a:r>
            <a:r>
              <a:rPr lang="en-US" sz="1800" b="0" u="none" strike="noStrike">
                <a:solidFill>
                  <a:srgbClr val="000000"/>
                </a:solidFill>
                <a:effectLst/>
                <a:uFillTx/>
                <a:latin typeface="Arial"/>
                <a:ea typeface="Arial"/>
              </a:rPr>
              <a:t>-  for eg – ibm-granite-3-2-8b – For natural language understanding, reasoning, and personalization</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Cloud </a:t>
            </a:r>
            <a:r>
              <a:rPr lang="en-US" sz="1800" b="0" u="none" strike="noStrike">
                <a:solidFill>
                  <a:srgbClr val="000000"/>
                </a:solidFill>
                <a:effectLst/>
                <a:uFillTx/>
                <a:latin typeface="Arial"/>
                <a:ea typeface="Arial"/>
              </a:rPr>
              <a:t>– It provides the infrastructure to build, deploy, and scale the Nutrition Agent efficiently. IBM Cloud enables a </a:t>
            </a:r>
            <a:r>
              <a:rPr lang="en-US" sz="1800" b="1" u="none" strike="noStrike">
                <a:solidFill>
                  <a:srgbClr val="000000"/>
                </a:solidFill>
                <a:effectLst/>
                <a:uFillTx/>
                <a:latin typeface="Arial"/>
                <a:ea typeface="Arial"/>
              </a:rPr>
              <a:t>reliable, secure, and scalable environment</a:t>
            </a:r>
            <a:r>
              <a:rPr lang="en-US" sz="1800" b="0" u="none" strike="noStrike">
                <a:solidFill>
                  <a:srgbClr val="000000"/>
                </a:solidFill>
                <a:effectLst/>
                <a:uFillTx/>
                <a:latin typeface="Arial"/>
                <a:ea typeface="Arial"/>
              </a:rPr>
              <a:t> for deploying the Nutrition Agent.</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RAG– </a:t>
            </a:r>
            <a:r>
              <a:rPr lang="en-US" sz="1800" b="0" u="none" strike="noStrike">
                <a:solidFill>
                  <a:srgbClr val="000000"/>
                </a:solidFill>
                <a:effectLst/>
                <a:uFillTx/>
                <a:latin typeface="Arial"/>
                <a:ea typeface="Arial"/>
              </a:rPr>
              <a:t>RAG to </a:t>
            </a:r>
            <a:r>
              <a:rPr lang="en-US" sz="1800" b="1" u="none" strike="noStrike">
                <a:solidFill>
                  <a:srgbClr val="000000"/>
                </a:solidFill>
                <a:effectLst/>
                <a:uFillTx/>
                <a:latin typeface="Arial"/>
                <a:ea typeface="Arial"/>
              </a:rPr>
              <a:t>fetch real data first, then generate intelligent answers</a:t>
            </a:r>
            <a:r>
              <a:rPr lang="en-US" sz="1800" b="0" u="none" strike="noStrike">
                <a:solidFill>
                  <a:srgbClr val="000000"/>
                </a:solidFill>
                <a:effectLst/>
                <a:uFillTx/>
                <a:latin typeface="Arial"/>
                <a:ea typeface="Arial"/>
              </a:rPr>
              <a:t>, making the Nutrition Agent more trustworthy and effective.</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Watsonx.ai - </a:t>
            </a:r>
            <a:r>
              <a:rPr lang="en-US" sz="1800" b="0" u="none" strike="noStrike">
                <a:solidFill>
                  <a:srgbClr val="000000"/>
                </a:solidFill>
                <a:effectLst/>
                <a:uFillTx/>
                <a:latin typeface="Arial"/>
                <a:ea typeface="Arial"/>
              </a:rPr>
              <a:t>For model deployment, embeddings, and AI governance</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IN" sz="1800" b="1" u="none" strike="noStrike">
                <a:solidFill>
                  <a:srgbClr val="000000"/>
                </a:solidFill>
                <a:effectLst/>
                <a:uFillTx/>
                <a:latin typeface="Arial"/>
                <a:ea typeface="Arial"/>
              </a:rPr>
              <a:t>Vector Database </a:t>
            </a:r>
            <a:r>
              <a:rPr lang="en-IN" sz="1800" b="0" u="none" strike="noStrike">
                <a:solidFill>
                  <a:srgbClr val="000000"/>
                </a:solidFill>
                <a:effectLst/>
                <a:uFillTx/>
                <a:latin typeface="Arial"/>
                <a:ea typeface="Arial"/>
              </a:rPr>
              <a:t>(FAISS/Chroma) – For RAG-based nutritional data retrieval</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component Used -</a:t>
            </a:r>
            <a:endParaRPr lang="en-IN" sz="2400" b="0" u="none" strike="noStrike">
              <a:solidFill>
                <a:srgbClr val="000000"/>
              </a:solidFill>
              <a:effectLst/>
              <a:uFillTx/>
              <a:latin typeface="Arial"/>
            </a:endParaRPr>
          </a:p>
        </p:txBody>
      </p:sp>
      <p:sp>
        <p:nvSpPr>
          <p:cNvPr id="72" name="Google Shape;148;p5"/>
          <p:cNvSpPr/>
          <p:nvPr/>
        </p:nvSpPr>
        <p:spPr>
          <a:xfrm>
            <a:off x="2264400" y="6784560"/>
            <a:ext cx="2140560" cy="2239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3" name="Google Shape;149;p5"/>
          <p:cNvSpPr/>
          <p:nvPr/>
        </p:nvSpPr>
        <p:spPr>
          <a:xfrm>
            <a:off x="178272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4" name="Google Shape;150;p5"/>
          <p:cNvSpPr/>
          <p:nvPr/>
        </p:nvSpPr>
        <p:spPr>
          <a:xfrm>
            <a:off x="5732280" y="6784560"/>
            <a:ext cx="1793520" cy="2239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5" name="Google Shape;151;p5"/>
          <p:cNvSpPr/>
          <p:nvPr/>
        </p:nvSpPr>
        <p:spPr>
          <a:xfrm>
            <a:off x="507744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6" name="Google Shape;152;p5"/>
          <p:cNvSpPr/>
          <p:nvPr/>
        </p:nvSpPr>
        <p:spPr>
          <a:xfrm>
            <a:off x="9027000" y="6784560"/>
            <a:ext cx="1793520" cy="2239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7" name="Google Shape;153;p5"/>
          <p:cNvSpPr/>
          <p:nvPr/>
        </p:nvSpPr>
        <p:spPr>
          <a:xfrm>
            <a:off x="8372160" y="7100280"/>
            <a:ext cx="3103920" cy="73152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8" name="TextBox 1"/>
          <p:cNvSpPr/>
          <p:nvPr/>
        </p:nvSpPr>
        <p:spPr>
          <a:xfrm>
            <a:off x="474840" y="863280"/>
            <a:ext cx="8823600" cy="54266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1) Chat Input </a:t>
            </a:r>
            <a:r>
              <a:rPr lang="en-US" sz="1400" b="0" u="none" strike="noStrike">
                <a:solidFill>
                  <a:srgbClr val="000000"/>
                </a:solidFill>
                <a:effectLst/>
                <a:uFillTx/>
                <a:latin typeface="Arial"/>
                <a:ea typeface="Arial"/>
              </a:rPr>
              <a:t>– Interface where users enter their queries, preferences, or meal details (text/voice/image).</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2) IBM watsonx AI Agent </a:t>
            </a:r>
            <a:r>
              <a:rPr lang="en-US" sz="1400" b="0" u="none" strike="noStrike">
                <a:solidFill>
                  <a:srgbClr val="000000"/>
                </a:solidFill>
                <a:effectLst/>
                <a:uFillTx/>
                <a:latin typeface="Arial"/>
                <a:ea typeface="Arial"/>
              </a:rPr>
              <a:t>- Processes user input using Granite models to generate personalized nutrition insights and recommendations.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3) Name of IBM Granite model - </a:t>
            </a:r>
            <a:r>
              <a:rPr lang="en-US" sz="1400" b="0" u="none" strike="noStrike">
                <a:solidFill>
                  <a:srgbClr val="000000"/>
                </a:solidFill>
                <a:effectLst/>
                <a:uFillTx/>
                <a:latin typeface="Arial"/>
                <a:ea typeface="Arial"/>
              </a:rPr>
              <a:t>Granite-4.0-8B-Instruct → Fast, efficient for real-time diet recommendations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4) Chat output -</a:t>
            </a:r>
            <a:r>
              <a:rPr lang="en-US" sz="1400" b="0" u="none" strike="noStrike">
                <a:solidFill>
                  <a:srgbClr val="000000"/>
                </a:solidFill>
                <a:effectLst/>
                <a:uFillTx/>
                <a:latin typeface="Arial"/>
                <a:ea typeface="Arial"/>
              </a:rPr>
              <a:t>Displays AI-generated responses such as diet plans, nutritional analysis, and health suggestions.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5) </a:t>
            </a:r>
            <a:r>
              <a:rPr lang="en-US" sz="1400" b="1" u="none" strike="noStrike">
                <a:solidFill>
                  <a:srgbClr val="000000"/>
                </a:solidFill>
                <a:effectLst/>
                <a:highlight>
                  <a:srgbClr val="FFFF00"/>
                </a:highlight>
                <a:uFillTx/>
                <a:latin typeface="Arial"/>
                <a:ea typeface="Arial"/>
              </a:rPr>
              <a:t>File component - </a:t>
            </a:r>
            <a:r>
              <a:rPr lang="en-US" sz="1400" b="0" u="none" strike="noStrike">
                <a:solidFill>
                  <a:srgbClr val="000000"/>
                </a:solidFill>
                <a:effectLst/>
                <a:highlight>
                  <a:srgbClr val="FFFF00"/>
                </a:highlight>
                <a:uFillTx/>
                <a:latin typeface="Arial"/>
                <a:ea typeface="Arial"/>
              </a:rPr>
              <a:t>Stores and retrieves user data, meal logs, and nutritional datasets for analysis and tracking.</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workflow -</a:t>
            </a:r>
            <a:endParaRPr lang="en-IN" sz="2400" b="0" u="none" strike="noStrike">
              <a:solidFill>
                <a:srgbClr val="000000"/>
              </a:solidFill>
              <a:effectLst/>
              <a:uFillTx/>
              <a:latin typeface="Arial"/>
            </a:endParaRPr>
          </a:p>
        </p:txBody>
      </p:sp>
      <p:pic>
        <p:nvPicPr>
          <p:cNvPr id="80" name=""/>
          <p:cNvPicPr/>
          <p:nvPr/>
        </p:nvPicPr>
        <p:blipFill>
          <a:blip r:embed="rId1"/>
          <a:srcRect l="4684" t="16023" r="3959" b="4485"/>
          <a:stretch/>
        </p:blipFill>
        <p:spPr>
          <a:xfrm>
            <a:off x="1260360" y="951840"/>
            <a:ext cx="9539640" cy="51681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400" b="1" u="none" strike="noStrike">
                <a:solidFill>
                  <a:schemeClr val="dk1"/>
                </a:solidFill>
                <a:effectLst/>
                <a:uFillTx/>
                <a:latin typeface="Calibri"/>
                <a:ea typeface="Calibri"/>
              </a:rPr>
              <a:t>Architecture blueprint</a:t>
            </a:r>
            <a:endParaRPr lang="en-IN" sz="2400" b="0" u="none" strike="noStrike">
              <a:solidFill>
                <a:srgbClr val="000000"/>
              </a:solidFill>
              <a:effectLst/>
              <a:uFillTx/>
              <a:latin typeface="Arial"/>
            </a:endParaRPr>
          </a:p>
        </p:txBody>
      </p:sp>
      <p:pic>
        <p:nvPicPr>
          <p:cNvPr id="82" name=""/>
          <p:cNvPicPr/>
          <p:nvPr/>
        </p:nvPicPr>
        <p:blipFill>
          <a:blip r:embed="rId1"/>
          <a:srcRect l="0" t="1110" r="1851" b="0"/>
          <a:stretch/>
        </p:blipFill>
        <p:spPr>
          <a:xfrm>
            <a:off x="900000" y="1080000"/>
            <a:ext cx="9539640" cy="50400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Google Shape;196;p9"/>
          <p:cNvPicPr/>
          <p:nvPr/>
        </p:nvPicPr>
        <p:blipFill>
          <a:blip r:embed="rId1"/>
          <a:stretch/>
        </p:blipFill>
        <p:spPr>
          <a:xfrm>
            <a:off x="8372160" y="1167480"/>
            <a:ext cx="3015000" cy="4522680"/>
          </a:xfrm>
          <a:prstGeom prst="rect">
            <a:avLst/>
          </a:prstGeom>
          <a:noFill/>
          <a:ln w="0">
            <a:noFill/>
          </a:ln>
        </p:spPr>
      </p:pic>
      <p:sp>
        <p:nvSpPr>
          <p:cNvPr id="84" name="TextBox 1"/>
          <p:cNvSpPr/>
          <p:nvPr/>
        </p:nvSpPr>
        <p:spPr>
          <a:xfrm>
            <a:off x="475560" y="283320"/>
            <a:ext cx="9317520" cy="584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000000"/>
                </a:solidFill>
                <a:effectLst/>
                <a:uFillTx/>
                <a:latin typeface="Arial"/>
                <a:ea typeface="Arial"/>
              </a:rPr>
              <a:t>Role of Agentic AI in the solution </a:t>
            </a:r>
            <a:endParaRPr lang="en-IN" sz="3200" b="0" u="none" strike="noStrike">
              <a:solidFill>
                <a:srgbClr val="000000"/>
              </a:solidFill>
              <a:effectLst/>
              <a:uFillTx/>
              <a:latin typeface="Arial"/>
            </a:endParaRPr>
          </a:p>
        </p:txBody>
      </p:sp>
      <p:sp>
        <p:nvSpPr>
          <p:cNvPr id="85" name="TextBox 2"/>
          <p:cNvSpPr/>
          <p:nvPr/>
        </p:nvSpPr>
        <p:spPr>
          <a:xfrm>
            <a:off x="621720" y="1167480"/>
            <a:ext cx="7406280" cy="3108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Arial"/>
                <a:ea typeface="Arial"/>
              </a:rPr>
              <a:t>Role of Agentic AI in Nutrition Agent</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Agentic AI</a:t>
            </a:r>
            <a:r>
              <a:rPr lang="en-US" sz="1400" b="0" u="none" strike="noStrike">
                <a:solidFill>
                  <a:srgbClr val="000000"/>
                </a:solidFill>
                <a:effectLst/>
                <a:uFillTx/>
                <a:latin typeface="Arial"/>
                <a:ea typeface="Arial"/>
              </a:rPr>
              <a:t> enables the Nutrition Agent to function as an intelligent, autonomous system rather than a simple chatbot. Using </a:t>
            </a:r>
            <a:r>
              <a:rPr lang="en-US" sz="1400" b="1" u="none" strike="noStrike">
                <a:solidFill>
                  <a:srgbClr val="000000"/>
                </a:solidFill>
                <a:effectLst/>
                <a:uFillTx/>
                <a:latin typeface="Arial"/>
                <a:ea typeface="Arial"/>
              </a:rPr>
              <a:t>IBM watsonx.ai</a:t>
            </a:r>
            <a:r>
              <a:rPr lang="en-US" sz="1400" b="0" u="none" strike="noStrike">
                <a:solidFill>
                  <a:srgbClr val="000000"/>
                </a:solidFill>
                <a:effectLst/>
                <a:uFillTx/>
                <a:latin typeface="Arial"/>
                <a:ea typeface="Arial"/>
              </a:rPr>
              <a:t> and </a:t>
            </a:r>
            <a:r>
              <a:rPr lang="en-US" sz="1400" b="1" u="none" strike="noStrike">
                <a:solidFill>
                  <a:srgbClr val="000000"/>
                </a:solidFill>
                <a:effectLst/>
                <a:uFillTx/>
                <a:latin typeface="Arial"/>
                <a:ea typeface="Arial"/>
              </a:rPr>
              <a:t>IBM Granite models</a:t>
            </a:r>
            <a:r>
              <a:rPr lang="en-US" sz="1400" b="0" u="none" strike="noStrike">
                <a:solidFill>
                  <a:srgbClr val="000000"/>
                </a:solidFill>
                <a:effectLst/>
                <a:uFillTx/>
                <a:latin typeface="Arial"/>
                <a:ea typeface="Arial"/>
              </a:rPr>
              <a:t>, it coordinates multiple specialized agents to deliver personalized nutrition guidance.</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Each agent performs a specific role—such as retrieving nutritional data, generating diet plans, providing health advice, and analyzing food logs—while working collaboratively. This </a:t>
            </a:r>
            <a:r>
              <a:rPr lang="en-US" sz="1400" b="1" u="none" strike="noStrike">
                <a:solidFill>
                  <a:srgbClr val="000000"/>
                </a:solidFill>
                <a:effectLst/>
                <a:uFillTx/>
                <a:latin typeface="Arial"/>
                <a:ea typeface="Arial"/>
              </a:rPr>
              <a:t>multi-agent approach</a:t>
            </a:r>
            <a:r>
              <a:rPr lang="en-US" sz="1400" b="0" u="none" strike="noStrike">
                <a:solidFill>
                  <a:srgbClr val="000000"/>
                </a:solidFill>
                <a:effectLst/>
                <a:uFillTx/>
                <a:latin typeface="Arial"/>
                <a:ea typeface="Arial"/>
              </a:rPr>
              <a:t> ensures efficient task execution and accurate results.</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Agentic AI also brings </a:t>
            </a:r>
            <a:r>
              <a:rPr lang="en-US" sz="1400" b="1" u="none" strike="noStrike">
                <a:solidFill>
                  <a:srgbClr val="000000"/>
                </a:solidFill>
                <a:effectLst/>
                <a:uFillTx/>
                <a:latin typeface="Arial"/>
                <a:ea typeface="Arial"/>
              </a:rPr>
              <a:t>context awareness</a:t>
            </a:r>
            <a:r>
              <a:rPr lang="en-US" sz="1400" b="0" u="none" strike="noStrike">
                <a:solidFill>
                  <a:srgbClr val="000000"/>
                </a:solidFill>
                <a:effectLst/>
                <a:uFillTx/>
                <a:latin typeface="Arial"/>
                <a:ea typeface="Arial"/>
              </a:rPr>
              <a:t>, understanding user details like age, health conditions, and fitness goals to generate tailored recommendations. It supports </a:t>
            </a:r>
            <a:r>
              <a:rPr lang="en-US" sz="1400" b="1" u="none" strike="noStrike">
                <a:solidFill>
                  <a:srgbClr val="000000"/>
                </a:solidFill>
                <a:effectLst/>
                <a:uFillTx/>
                <a:latin typeface="Arial"/>
                <a:ea typeface="Arial"/>
              </a:rPr>
              <a:t>real-time adaptation</a:t>
            </a:r>
            <a:r>
              <a:rPr lang="en-US" sz="1400" b="0" u="none" strike="noStrike">
                <a:solidFill>
                  <a:srgbClr val="000000"/>
                </a:solidFill>
                <a:effectLst/>
                <a:uFillTx/>
                <a:latin typeface="Arial"/>
                <a:ea typeface="Arial"/>
              </a:rPr>
              <a:t>, continuously updating suggestions based on user inputs like daily meals.</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Additionally, agents communicate with each other, enabling better decision-making and improved outcomes.</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Overall, Agentic AI makes the system proactive, personalized, and goal-driven, acting like a </a:t>
            </a:r>
            <a:r>
              <a:rPr lang="en-US" sz="1400" b="1" u="none" strike="noStrike">
                <a:solidFill>
                  <a:srgbClr val="000000"/>
                </a:solidFill>
                <a:effectLst/>
                <a:uFillTx/>
                <a:latin typeface="Arial"/>
                <a:ea typeface="Arial"/>
              </a:rPr>
              <a:t>smart digital nutritionist</a:t>
            </a:r>
            <a:r>
              <a:rPr lang="en-US" sz="1400" b="0" u="none" strike="noStrike">
                <a:solidFill>
                  <a:srgbClr val="000000"/>
                </a:solidFill>
                <a:effectLst/>
                <a:uFillTx/>
                <a:latin typeface="Arial"/>
                <a:ea typeface="Arial"/>
              </a:rPr>
              <a:t> that helps users maintain a healthy lifestyle.</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Google Shape;278;p18"/>
          <p:cNvSpPr/>
          <p:nvPr/>
        </p:nvSpPr>
        <p:spPr>
          <a:xfrm>
            <a:off x="793080" y="3416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pPr>
            <a:r>
              <a:rPr lang="en-US" sz="2400" b="1" u="none" strike="noStrike">
                <a:solidFill>
                  <a:srgbClr val="000000"/>
                </a:solidFill>
                <a:effectLst/>
                <a:uFillTx/>
                <a:latin typeface="Arial"/>
                <a:ea typeface="Arial"/>
              </a:rPr>
              <a:t>Token Usage </a:t>
            </a:r>
            <a:endParaRPr lang="en-IN" sz="2400" b="0" u="none" strike="noStrike">
              <a:solidFill>
                <a:srgbClr val="000000"/>
              </a:solidFill>
              <a:effectLst/>
              <a:uFillTx/>
              <a:latin typeface="Arial"/>
            </a:endParaRPr>
          </a:p>
        </p:txBody>
      </p:sp>
      <p:sp>
        <p:nvSpPr>
          <p:cNvPr id="87"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88"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89"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0" name="TextBox 4"/>
          <p:cNvSpPr/>
          <p:nvPr/>
        </p:nvSpPr>
        <p:spPr>
          <a:xfrm>
            <a:off x="897480" y="1042200"/>
            <a:ext cx="4370760" cy="30744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1400" b="0" u="none" strike="noStrike">
                <a:solidFill>
                  <a:srgbClr val="000000"/>
                </a:solidFill>
                <a:effectLst/>
                <a:uFillTx/>
                <a:latin typeface="Arial"/>
                <a:ea typeface="Arial"/>
              </a:rPr>
              <a:t>11,761 token are used</a:t>
            </a:r>
            <a:endParaRPr lang="en-IN" sz="1400" b="0" u="none" strike="noStrike">
              <a:solidFill>
                <a:srgbClr val="000000"/>
              </a:solidFill>
              <a:effectLst/>
              <a:uFillTx/>
              <a:latin typeface="Arial"/>
            </a:endParaRPr>
          </a:p>
        </p:txBody>
      </p:sp>
      <p:sp>
        <p:nvSpPr>
          <p:cNvPr id="91" name="TextBox 13"/>
          <p:cNvSpPr/>
          <p:nvPr/>
        </p:nvSpPr>
        <p:spPr>
          <a:xfrm>
            <a:off x="1278720" y="1717920"/>
            <a:ext cx="2742840" cy="3996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2000" b="0" u="sng" strike="noStrike">
                <a:solidFill>
                  <a:srgbClr val="000000"/>
                </a:solidFill>
                <a:effectLst/>
                <a:uFillTx/>
                <a:latin typeface="Arial"/>
                <a:ea typeface="Arial"/>
              </a:rPr>
              <a:t>Before Prompt</a:t>
            </a:r>
            <a:endParaRPr lang="en-IN" sz="2000" b="0" u="none" strike="noStrike">
              <a:solidFill>
                <a:srgbClr val="000000"/>
              </a:solidFill>
              <a:effectLst/>
              <a:uFillTx/>
              <a:latin typeface="Arial"/>
            </a:endParaRPr>
          </a:p>
        </p:txBody>
      </p:sp>
      <p:sp>
        <p:nvSpPr>
          <p:cNvPr id="92" name="TextBox 14"/>
          <p:cNvSpPr/>
          <p:nvPr/>
        </p:nvSpPr>
        <p:spPr>
          <a:xfrm>
            <a:off x="7106760" y="1722960"/>
            <a:ext cx="2742840" cy="3996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2000" b="0" u="sng" strike="noStrike">
                <a:solidFill>
                  <a:srgbClr val="000000"/>
                </a:solidFill>
                <a:effectLst/>
                <a:uFillTx/>
                <a:latin typeface="Arial"/>
                <a:ea typeface="Arial"/>
              </a:rPr>
              <a:t>After the Prompt</a:t>
            </a:r>
            <a:endParaRPr lang="en-IN" sz="2000" b="0" u="none" strike="noStrike">
              <a:solidFill>
                <a:srgbClr val="000000"/>
              </a:solidFill>
              <a:effectLst/>
              <a:uFillTx/>
              <a:latin typeface="Arial"/>
            </a:endParaRPr>
          </a:p>
        </p:txBody>
      </p:sp>
      <p:pic>
        <p:nvPicPr>
          <p:cNvPr id="93" name=""/>
          <p:cNvPicPr/>
          <p:nvPr/>
        </p:nvPicPr>
        <p:blipFill>
          <a:blip r:embed="rId1"/>
          <a:srcRect l="0" t="11198" r="0" b="0"/>
          <a:stretch/>
        </p:blipFill>
        <p:spPr>
          <a:xfrm>
            <a:off x="1440000" y="2520000"/>
            <a:ext cx="9180000" cy="32400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TextBox 1"/>
          <p:cNvSpPr/>
          <p:nvPr/>
        </p:nvSpPr>
        <p:spPr>
          <a:xfrm>
            <a:off x="777240" y="484560"/>
            <a:ext cx="712296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Novelty and Uniqueness</a:t>
            </a:r>
            <a:endParaRPr lang="en-IN" sz="2400" b="0" u="none" strike="noStrike">
              <a:solidFill>
                <a:srgbClr val="000000"/>
              </a:solidFill>
              <a:effectLst/>
              <a:uFillTx/>
              <a:latin typeface="Arial"/>
            </a:endParaRPr>
          </a:p>
        </p:txBody>
      </p:sp>
      <p:sp>
        <p:nvSpPr>
          <p:cNvPr id="95" name="TextBox 2"/>
          <p:cNvSpPr/>
          <p:nvPr/>
        </p:nvSpPr>
        <p:spPr>
          <a:xfrm>
            <a:off x="777240" y="1207080"/>
            <a:ext cx="11301480" cy="52934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800" b="0" u="none" strike="noStrike">
                <a:solidFill>
                  <a:srgbClr val="000000"/>
                </a:solidFill>
                <a:effectLst/>
                <a:uFillTx/>
                <a:latin typeface="Arial"/>
                <a:ea typeface="Arial"/>
              </a:rPr>
              <a:t>The proposed Nutrition Agent stands out by combining </a:t>
            </a:r>
            <a:r>
              <a:rPr lang="en-IN" sz="1800" b="1" u="none" strike="noStrike">
                <a:solidFill>
                  <a:srgbClr val="000000"/>
                </a:solidFill>
                <a:effectLst/>
                <a:uFillTx/>
                <a:latin typeface="Arial"/>
                <a:ea typeface="Arial"/>
              </a:rPr>
              <a:t>Agentic AI, RAG, and personalization</a:t>
            </a:r>
            <a:r>
              <a:rPr lang="en-IN" sz="1800" b="0" u="none" strike="noStrike">
                <a:solidFill>
                  <a:srgbClr val="000000"/>
                </a:solidFill>
                <a:effectLst/>
                <a:uFillTx/>
                <a:latin typeface="Arial"/>
                <a:ea typeface="Arial"/>
              </a:rPr>
              <a:t> into a single intelligent system.</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Multi-Agent Intelligence</a:t>
            </a:r>
            <a:r>
              <a:rPr lang="en-IN" sz="1800" b="0" u="none" strike="noStrike">
                <a:solidFill>
                  <a:srgbClr val="000000"/>
                </a:solidFill>
                <a:effectLst/>
                <a:uFillTx/>
                <a:latin typeface="Arial"/>
                <a:ea typeface="Arial"/>
              </a:rPr>
              <a:t> – Instead of a single chatbot, multiple specialized agents collaborate to deliver accurate and context-aware nutrition guidance. </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RAG-Based Accuracy</a:t>
            </a:r>
            <a:r>
              <a:rPr lang="en-IN" sz="1800" b="0" u="none" strike="noStrike">
                <a:solidFill>
                  <a:srgbClr val="000000"/>
                </a:solidFill>
                <a:effectLst/>
                <a:uFillTx/>
                <a:latin typeface="Arial"/>
                <a:ea typeface="Arial"/>
              </a:rPr>
              <a:t> – Integrates real-time data retrieval with AI generation, reducing misinformation and ensuring trustworthy recommendations. </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Hyper-Personalization</a:t>
            </a:r>
            <a:r>
              <a:rPr lang="en-IN" sz="1800" b="0" u="none" strike="noStrike">
                <a:solidFill>
                  <a:srgbClr val="000000"/>
                </a:solidFill>
                <a:effectLst/>
                <a:uFillTx/>
                <a:latin typeface="Arial"/>
                <a:ea typeface="Arial"/>
              </a:rPr>
              <a:t> – Tailors diet plans based on health conditions, cultural preferences, and fitness goals. </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Real-Time Feedback Loop</a:t>
            </a:r>
            <a:r>
              <a:rPr lang="en-IN" sz="1800" b="0" u="none" strike="noStrike">
                <a:solidFill>
                  <a:srgbClr val="000000"/>
                </a:solidFill>
                <a:effectLst/>
                <a:uFillTx/>
                <a:latin typeface="Arial"/>
                <a:ea typeface="Arial"/>
              </a:rPr>
              <a:t> – Continuously adapts recommendations based on daily food logs and user behavior. </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Multi-Modal Input</a:t>
            </a:r>
            <a:r>
              <a:rPr lang="en-IN" sz="1800" b="0" u="none" strike="noStrike">
                <a:solidFill>
                  <a:srgbClr val="000000"/>
                </a:solidFill>
                <a:effectLst/>
                <a:uFillTx/>
                <a:latin typeface="Arial"/>
                <a:ea typeface="Arial"/>
              </a:rPr>
              <a:t> – Supports text, voice, and image-based meal tracking for better usability. </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Preventive Healthcare Focus</a:t>
            </a:r>
            <a:r>
              <a:rPr lang="en-IN" sz="1800" b="0" u="none" strike="noStrike">
                <a:solidFill>
                  <a:srgbClr val="000000"/>
                </a:solidFill>
                <a:effectLst/>
                <a:uFillTx/>
                <a:latin typeface="Arial"/>
                <a:ea typeface="Arial"/>
              </a:rPr>
              <a:t> – Goes beyond diet planning to provide disease-specific nutrition advice. </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Scalable &amp; Enterprise-Ready</a:t>
            </a:r>
            <a:r>
              <a:rPr lang="en-IN" sz="1800" b="0" u="none" strike="noStrike">
                <a:solidFill>
                  <a:srgbClr val="000000"/>
                </a:solidFill>
                <a:effectLst/>
                <a:uFillTx/>
                <a:latin typeface="Arial"/>
                <a:ea typeface="Arial"/>
              </a:rPr>
              <a:t> – Built on </a:t>
            </a:r>
            <a:r>
              <a:rPr lang="en-IN" sz="1800" b="1" u="none" strike="noStrike">
                <a:solidFill>
                  <a:srgbClr val="000000"/>
                </a:solidFill>
                <a:effectLst/>
                <a:uFillTx/>
                <a:latin typeface="Arial"/>
                <a:ea typeface="Arial"/>
              </a:rPr>
              <a:t>IBM watsonx.ai</a:t>
            </a:r>
            <a:r>
              <a:rPr lang="en-IN" sz="1800" b="0" u="none" strike="noStrike">
                <a:solidFill>
                  <a:srgbClr val="000000"/>
                </a:solidFill>
                <a:effectLst/>
                <a:uFillTx/>
                <a:latin typeface="Arial"/>
                <a:ea typeface="Arial"/>
              </a:rPr>
              <a:t> with </a:t>
            </a:r>
            <a:r>
              <a:rPr lang="en-IN" sz="1800" b="1" u="none" strike="noStrike">
                <a:solidFill>
                  <a:srgbClr val="000000"/>
                </a:solidFill>
                <a:effectLst/>
                <a:uFillTx/>
                <a:latin typeface="Arial"/>
                <a:ea typeface="Arial"/>
              </a:rPr>
              <a:t>IBM Granite models</a:t>
            </a:r>
            <a:r>
              <a:rPr lang="en-IN" sz="1800" b="0" u="none" strike="noStrike">
                <a:solidFill>
                  <a:srgbClr val="000000"/>
                </a:solidFill>
                <a:effectLst/>
                <a:uFillTx/>
                <a:latin typeface="Arial"/>
                <a:ea typeface="Arial"/>
              </a:rPr>
              <a:t>, ensuring reliability and governance. </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Arial"/>
                <a:ea typeface="Arial"/>
              </a:rPr>
              <a:t>This makes the solution a </a:t>
            </a:r>
            <a:r>
              <a:rPr lang="en-IN" sz="1800" b="1" u="none" strike="noStrike">
                <a:solidFill>
                  <a:srgbClr val="000000"/>
                </a:solidFill>
                <a:effectLst/>
                <a:uFillTx/>
                <a:latin typeface="Arial"/>
                <a:ea typeface="Arial"/>
              </a:rPr>
              <a:t>smart, adaptive, and proactive digital nutritionist</a:t>
            </a:r>
            <a:r>
              <a:rPr lang="en-IN" sz="1800" b="0" u="none" strike="noStrike">
                <a:solidFill>
                  <a:srgbClr val="000000"/>
                </a:solidFill>
                <a:effectLst/>
                <a:uFillTx/>
                <a:latin typeface="Arial"/>
                <a:ea typeface="Arial"/>
              </a:rPr>
              <a:t>, not just a static diet recommendation tool.</a:t>
            </a:r>
            <a:endParaRPr lang="en-IN" sz="18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Git Hub Link</a:t>
            </a:r>
            <a:endParaRPr lang="en-IN" sz="2400" b="0" u="none" strike="noStrike">
              <a:solidFill>
                <a:srgbClr val="000000"/>
              </a:solidFill>
              <a:effectLst/>
              <a:uFillTx/>
              <a:latin typeface="Arial"/>
            </a:endParaRPr>
          </a:p>
        </p:txBody>
      </p:sp>
      <p:sp>
        <p:nvSpPr>
          <p:cNvPr id="97" name="Google Shape;279;p18"/>
          <p:cNvSpPr/>
          <p:nvPr/>
        </p:nvSpPr>
        <p:spPr>
          <a:xfrm>
            <a:off x="1218600" y="1153800"/>
            <a:ext cx="9214200" cy="427680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https://github.com/vprayag2005/ibm_project</a:t>
            </a:r>
            <a:endParaRPr lang="en-IN" sz="1850" b="0" u="none" strike="noStrike">
              <a:solidFill>
                <a:srgbClr val="000000"/>
              </a:solidFill>
              <a:effectLst/>
              <a:uFillTx/>
              <a:latin typeface="Arial"/>
            </a:endParaRPr>
          </a:p>
          <a:p>
            <a:pPr>
              <a:lnSpc>
                <a:spcPct val="162000"/>
              </a:lnSpc>
              <a:tabLst>
                <a:tab pos="0" algn="l"/>
              </a:tabLst>
            </a:pPr>
            <a:endParaRPr lang="en-IN" sz="1850" b="0" u="none" strike="noStrike">
              <a:solidFill>
                <a:srgbClr val="000000"/>
              </a:solidFill>
              <a:effectLst/>
              <a:uFillTx/>
              <a:latin typeface="Arial"/>
            </a:endParaRPr>
          </a:p>
        </p:txBody>
      </p:sp>
      <p:sp>
        <p:nvSpPr>
          <p:cNvPr id="98"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9"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00"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Future Scope </a:t>
            </a:r>
            <a:endParaRPr lang="en-IN" sz="2400" b="0" u="none" strike="noStrike">
              <a:solidFill>
                <a:srgbClr val="000000"/>
              </a:solidFill>
              <a:effectLst/>
              <a:uFillTx/>
              <a:latin typeface="Arial"/>
            </a:endParaRPr>
          </a:p>
        </p:txBody>
      </p:sp>
      <p:sp>
        <p:nvSpPr>
          <p:cNvPr id="102" name="Google Shape;279;p18"/>
          <p:cNvSpPr/>
          <p:nvPr/>
        </p:nvSpPr>
        <p:spPr>
          <a:xfrm>
            <a:off x="1218600" y="1221840"/>
            <a:ext cx="9214200" cy="427680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1" u="none" strike="noStrike">
                <a:solidFill>
                  <a:srgbClr val="2B3541"/>
                </a:solidFill>
                <a:effectLst/>
                <a:uFillTx/>
                <a:latin typeface="Times New Roman"/>
                <a:ea typeface="Times New Roman"/>
              </a:rPr>
              <a:t>1.Integration with Wearables &amp; Health Devices – </a:t>
            </a:r>
            <a:endParaRPr lang="en-IN" sz="1850" b="0" u="none" strike="noStrike">
              <a:solidFill>
                <a:srgbClr val="000000"/>
              </a:solidFill>
              <a:effectLst/>
              <a:uFillTx/>
              <a:latin typeface="Arial"/>
            </a:endParaRPr>
          </a:p>
          <a:p>
            <a:pPr>
              <a:lnSpc>
                <a:spcPct val="162000"/>
              </a:lnSpc>
              <a:tabLst>
                <a:tab pos="0" algn="l"/>
              </a:tabLst>
            </a:pPr>
            <a:r>
              <a:rPr lang="en-US" sz="1850" b="0" u="none" strike="noStrike">
                <a:solidFill>
                  <a:srgbClr val="2B3541"/>
                </a:solidFill>
                <a:effectLst/>
                <a:uFillTx/>
                <a:latin typeface="Times New Roman"/>
                <a:ea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lang="en-IN" sz="1850" b="0" u="none" strike="noStrike">
              <a:solidFill>
                <a:srgbClr val="000000"/>
              </a:solidFill>
              <a:effectLst/>
              <a:uFillTx/>
              <a:latin typeface="Arial"/>
            </a:endParaRPr>
          </a:p>
          <a:p>
            <a:pPr>
              <a:lnSpc>
                <a:spcPct val="162000"/>
              </a:lnSpc>
              <a:tabLst>
                <a:tab pos="0" algn="l"/>
              </a:tabLst>
            </a:pPr>
            <a:r>
              <a:rPr lang="en-US" sz="1850" b="1" u="none" strike="noStrike">
                <a:solidFill>
                  <a:srgbClr val="2B3541"/>
                </a:solidFill>
                <a:effectLst/>
                <a:uFillTx/>
                <a:latin typeface="Times New Roman"/>
                <a:ea typeface="Times New Roman"/>
              </a:rPr>
              <a:t>2.AI-Powered Voice Assistant &amp; Multilingual Support </a:t>
            </a:r>
            <a:r>
              <a:rPr lang="en-US" sz="1850" b="0" u="none" strike="noStrike">
                <a:solidFill>
                  <a:srgbClr val="2B3541"/>
                </a:solidFill>
                <a:effectLst/>
                <a:uFillTx/>
                <a:latin typeface="Times New Roman"/>
                <a:ea typeface="Times New Roman"/>
              </a:rPr>
              <a:t>– </a:t>
            </a:r>
            <a:endParaRPr lang="en-IN" sz="1850" b="0" u="none" strike="noStrike">
              <a:solidFill>
                <a:srgbClr val="000000"/>
              </a:solidFill>
              <a:effectLst/>
              <a:uFillTx/>
              <a:latin typeface="Arial"/>
            </a:endParaRPr>
          </a:p>
          <a:p>
            <a:pPr>
              <a:lnSpc>
                <a:spcPct val="162000"/>
              </a:lnSpc>
              <a:tabLst>
                <a:tab pos="0" algn="l"/>
              </a:tabLst>
            </a:pPr>
            <a:r>
              <a:rPr lang="en-US" sz="1850" b="0" u="none" strike="noStrike">
                <a:solidFill>
                  <a:srgbClr val="2B3541"/>
                </a:solidFill>
                <a:effectLst/>
                <a:uFillTx/>
                <a:latin typeface="Times New Roman"/>
                <a:ea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lang="en-IN" sz="1850" b="0" u="none" strike="noStrike">
              <a:solidFill>
                <a:srgbClr val="000000"/>
              </a:solidFill>
              <a:effectLst/>
              <a:uFillTx/>
              <a:latin typeface="Arial"/>
            </a:endParaRPr>
          </a:p>
        </p:txBody>
      </p:sp>
      <p:sp>
        <p:nvSpPr>
          <p:cNvPr id="103"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04"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05"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Box 5"/>
          <p:cNvSpPr/>
          <p:nvPr/>
        </p:nvSpPr>
        <p:spPr>
          <a:xfrm>
            <a:off x="327960" y="207360"/>
            <a:ext cx="6095520" cy="6768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2400" b="1" u="none" strike="noStrike">
                <a:solidFill>
                  <a:srgbClr val="000000"/>
                </a:solidFill>
                <a:effectLst/>
                <a:uFillTx/>
                <a:latin typeface="Arial"/>
                <a:ea typeface="Arial"/>
              </a:rPr>
              <a:t>Certificates Earned:</a:t>
            </a:r>
            <a:endParaRPr lang="en-IN" sz="2400" b="0" u="none" strike="noStrike">
              <a:solidFill>
                <a:srgbClr val="000000"/>
              </a:solidFill>
              <a:effectLst/>
              <a:uFillTx/>
              <a:latin typeface="Arial"/>
            </a:endParaRPr>
          </a:p>
          <a:p>
            <a:pPr algn="ctr">
              <a:lnSpc>
                <a:spcPct val="100000"/>
              </a:lnSpc>
            </a:pPr>
            <a:endParaRPr lang="en-IN" sz="1400" b="0" u="none" strike="noStrike">
              <a:solidFill>
                <a:srgbClr val="000000"/>
              </a:solidFill>
              <a:effectLst/>
              <a:uFillTx/>
              <a:latin typeface="Arial"/>
            </a:endParaRPr>
          </a:p>
        </p:txBody>
      </p:sp>
      <p:sp>
        <p:nvSpPr>
          <p:cNvPr id="107" name="TextBox 2"/>
          <p:cNvSpPr/>
          <p:nvPr/>
        </p:nvSpPr>
        <p:spPr>
          <a:xfrm>
            <a:off x="551880" y="690120"/>
            <a:ext cx="6389640" cy="52272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2800" b="1" u="none" strike="noStrike">
                <a:solidFill>
                  <a:srgbClr val="000000"/>
                </a:solidFill>
                <a:effectLst/>
                <a:uFillTx/>
                <a:latin typeface="Arial"/>
                <a:ea typeface="Arial"/>
              </a:rPr>
              <a:t>Please  add your credly certificate </a:t>
            </a:r>
            <a:endParaRPr lang="en-IN" sz="2800" b="0" u="none" strike="noStrike">
              <a:solidFill>
                <a:srgbClr val="000000"/>
              </a:solidFill>
              <a:effectLst/>
              <a:uFillTx/>
              <a:latin typeface="Arial"/>
            </a:endParaRPr>
          </a:p>
        </p:txBody>
      </p:sp>
      <p:pic>
        <p:nvPicPr>
          <p:cNvPr id="108" name=""/>
          <p:cNvPicPr/>
          <p:nvPr/>
        </p:nvPicPr>
        <p:blipFill>
          <a:blip r:embed="rId1"/>
          <a:stretch/>
        </p:blipFill>
        <p:spPr>
          <a:xfrm>
            <a:off x="1620000" y="1620000"/>
            <a:ext cx="8095680" cy="39600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Box 4"/>
          <p:cNvSpPr/>
          <p:nvPr/>
        </p:nvSpPr>
        <p:spPr>
          <a:xfrm>
            <a:off x="176760" y="226440"/>
            <a:ext cx="6095520" cy="6768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2400" b="1" u="none" strike="noStrike">
                <a:solidFill>
                  <a:srgbClr val="000000"/>
                </a:solidFill>
                <a:effectLst/>
                <a:uFillTx/>
                <a:latin typeface="Arial"/>
                <a:ea typeface="Arial"/>
              </a:rPr>
              <a:t>Certificates Earned:</a:t>
            </a:r>
            <a:r>
              <a:rPr lang="en-US" sz="2400" b="0" u="none" strike="noStrike">
                <a:solidFill>
                  <a:srgbClr val="000000"/>
                </a:solidFill>
                <a:effectLst/>
                <a:uFillTx/>
                <a:latin typeface="Arial"/>
                <a:ea typeface="Arial"/>
              </a:rPr>
              <a:t>​</a:t>
            </a:r>
            <a:endParaRPr lang="en-IN" sz="2400" b="0" u="none" strike="noStrike">
              <a:solidFill>
                <a:srgbClr val="000000"/>
              </a:solidFill>
              <a:effectLst/>
              <a:uFillTx/>
              <a:latin typeface="Arial"/>
            </a:endParaRPr>
          </a:p>
          <a:p>
            <a:pPr algn="ctr">
              <a:lnSpc>
                <a:spcPct val="100000"/>
              </a:lnSpc>
            </a:pPr>
            <a:endParaRPr lang="en-IN" sz="1400" b="0" u="none" strike="noStrike">
              <a:solidFill>
                <a:srgbClr val="000000"/>
              </a:solidFill>
              <a:effectLst/>
              <a:uFillTx/>
              <a:latin typeface="Arial"/>
            </a:endParaRPr>
          </a:p>
        </p:txBody>
      </p:sp>
      <p:sp>
        <p:nvSpPr>
          <p:cNvPr id="110" name="TextBox 5"/>
          <p:cNvSpPr/>
          <p:nvPr/>
        </p:nvSpPr>
        <p:spPr>
          <a:xfrm>
            <a:off x="496800" y="800640"/>
            <a:ext cx="5437440" cy="3996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lang="en-US" sz="2000" b="1" u="none" strike="noStrike">
                <a:solidFill>
                  <a:srgbClr val="000000"/>
                </a:solidFill>
                <a:effectLst/>
                <a:uFillTx/>
                <a:latin typeface="Arial"/>
                <a:ea typeface="Arial"/>
              </a:rPr>
              <a:t>Add your IBM BOB Certificate</a:t>
            </a:r>
            <a:endParaRPr lang="en-IN" sz="2000" b="0" u="none" strike="noStrike">
              <a:solidFill>
                <a:srgbClr val="000000"/>
              </a:solidFill>
              <a:effectLst/>
              <a:uFillTx/>
              <a:latin typeface="Arial"/>
            </a:endParaRPr>
          </a:p>
        </p:txBody>
      </p:sp>
      <p:pic>
        <p:nvPicPr>
          <p:cNvPr id="111" name=""/>
          <p:cNvPicPr/>
          <p:nvPr/>
        </p:nvPicPr>
        <p:blipFill>
          <a:blip r:embed="rId1"/>
          <a:stretch/>
        </p:blipFill>
        <p:spPr>
          <a:xfrm>
            <a:off x="1080000" y="1980000"/>
            <a:ext cx="10217160" cy="316836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Google Shape;310;p20"/>
          <p:cNvPicPr/>
          <p:nvPr/>
        </p:nvPicPr>
        <p:blipFill>
          <a:blip r:embed="rId1"/>
          <a:stretch/>
        </p:blipFill>
        <p:spPr>
          <a:xfrm>
            <a:off x="0" y="2190240"/>
            <a:ext cx="12191760" cy="24771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en-IN</dc:language>
  <cp:lastModifiedBy/>
  <dcterms:modified xsi:type="dcterms:W3CDTF">2026-07-08T22:11:59Z</dcterms:modified>
  <cp:revision>16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16</vt:i4>
  </property>
</Properties>
</file>